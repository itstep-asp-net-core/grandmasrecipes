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65" r:id="rId3"/>
    <p:sldId id="257" r:id="rId4"/>
    <p:sldId id="258" r:id="rId5"/>
    <p:sldId id="259" r:id="rId6"/>
    <p:sldId id="260" r:id="rId7"/>
    <p:sldId id="262" r:id="rId8"/>
    <p:sldId id="261" r:id="rId9"/>
    <p:sldId id="263" r:id="rId10"/>
    <p:sldId id="264" r:id="rId11"/>
    <p:sldId id="266" r:id="rId12"/>
  </p:sldIdLst>
  <p:sldSz cx="12192000" cy="6858000"/>
  <p:notesSz cx="6858000" cy="9144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Play" panose="020B0604020202020204" charset="0"/>
      <p:regular r:id="rId18"/>
      <p:bold r:id="rId19"/>
    </p:embeddedFont>
    <p:embeddedFont>
      <p:font typeface="Verdana" panose="020B060403050404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12d28d389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e12d28d389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832658" y="3075057"/>
            <a:ext cx="8526684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Grandma's Recipes</a:t>
            </a:r>
            <a:r>
              <a:rPr lang="en-US" sz="4000" b="1" i="0" u="none" strike="noStrike" cap="none" noProof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🌈</a:t>
            </a:r>
            <a:endParaRPr lang="en-US" sz="4000" b="1" i="0" u="none" strike="noStrike" cap="none" noProof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5538454" y="3558845"/>
            <a:ext cx="5382292" cy="1150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noProof="1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представляє</a:t>
            </a:r>
            <a:endParaRPr lang="en-US" sz="4800" b="0" i="0" u="none" strike="noStrike" cap="none" noProof="1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 rot="3144488">
            <a:off x="9136371" y="8679626"/>
            <a:ext cx="12192000" cy="7786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0" b="1" i="0" u="none" strike="noStrike" cap="none" noProof="1">
                <a:solidFill>
                  <a:srgbClr val="1C1C1C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50000" b="1" i="0" u="none" strike="noStrike" cap="none" noProof="1">
                <a:solidFill>
                  <a:srgbClr val="3A3A3A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-US" sz="50000" b="1" i="0" u="none" strike="noStrike" cap="none" noProof="1">
                <a:solidFill>
                  <a:srgbClr val="1C1C1C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lang="en-US" noProof="1"/>
          </a:p>
        </p:txBody>
      </p:sp>
      <p:sp>
        <p:nvSpPr>
          <p:cNvPr id="87" name="Google Shape;87;p13"/>
          <p:cNvSpPr txBox="1"/>
          <p:nvPr/>
        </p:nvSpPr>
        <p:spPr>
          <a:xfrm rot="3144488">
            <a:off x="10250885" y="10927434"/>
            <a:ext cx="4074804" cy="223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Ткач Єгор</a:t>
            </a:r>
            <a:endParaRPr lang="en-US" noProof="1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 New"/>
              <a:buChar char="o"/>
            </a:pPr>
            <a:r>
              <a:rPr lang="en-US" sz="2400" b="0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Backend Developer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 New"/>
              <a:buChar char="o"/>
            </a:pPr>
            <a:r>
              <a:rPr lang="en-US" sz="2400" b="0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QA Engineer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 New"/>
              <a:buChar char="o"/>
            </a:pPr>
            <a:r>
              <a:rPr lang="en-US" sz="2400" b="0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Technical writer</a:t>
            </a:r>
          </a:p>
        </p:txBody>
      </p:sp>
      <p:sp>
        <p:nvSpPr>
          <p:cNvPr id="88" name="Google Shape;88;p13"/>
          <p:cNvSpPr txBox="1"/>
          <p:nvPr/>
        </p:nvSpPr>
        <p:spPr>
          <a:xfrm rot="3144488">
            <a:off x="16717018" y="10927434"/>
            <a:ext cx="4900335" cy="2787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Цимбалюк Олександр</a:t>
            </a:r>
            <a:endParaRPr lang="en-US" noProof="1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 New"/>
              <a:buChar char="o"/>
            </a:pPr>
            <a:r>
              <a:rPr lang="en-US" sz="2400" b="0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Team Lead</a:t>
            </a:r>
            <a:endParaRPr lang="en-US" noProof="1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 New"/>
              <a:buChar char="o"/>
            </a:pPr>
            <a:r>
              <a:rPr lang="en-US" sz="2400" b="0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Fullstack Developer</a:t>
            </a:r>
            <a:endParaRPr lang="en-US" noProof="1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 New"/>
              <a:buChar char="o"/>
            </a:pPr>
            <a:r>
              <a:rPr lang="en-US" sz="2400" b="0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Product Designer</a:t>
            </a:r>
            <a:endParaRPr lang="en-US" noProof="1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 New"/>
              <a:buChar char="o"/>
            </a:pPr>
            <a:r>
              <a:rPr lang="en-US" sz="2400" b="0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Scrum Master</a:t>
            </a:r>
          </a:p>
        </p:txBody>
      </p:sp>
      <p:sp>
        <p:nvSpPr>
          <p:cNvPr id="89" name="Google Shape;89;p13"/>
          <p:cNvSpPr/>
          <p:nvPr/>
        </p:nvSpPr>
        <p:spPr>
          <a:xfrm rot="3144488">
            <a:off x="13705951" y="10309610"/>
            <a:ext cx="2934118" cy="5064368"/>
          </a:xfrm>
          <a:prstGeom prst="parallelogram">
            <a:avLst>
              <a:gd name="adj" fmla="val 74955"/>
            </a:avLst>
          </a:prstGeom>
          <a:solidFill>
            <a:srgbClr val="3A3A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 txBox="1"/>
          <p:nvPr/>
        </p:nvSpPr>
        <p:spPr>
          <a:xfrm rot="3144488">
            <a:off x="11975641" y="9415923"/>
            <a:ext cx="709142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Grandma's Recipes</a:t>
            </a:r>
            <a:r>
              <a:rPr lang="en-US" sz="3200" b="1" i="0" u="none" strike="noStrike" cap="none" noProof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🌈</a:t>
            </a:r>
            <a:endParaRPr lang="en-US" sz="3200" b="1" i="0" u="none" strike="noStrike" cap="none" noProof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 txBox="1"/>
          <p:nvPr/>
        </p:nvSpPr>
        <p:spPr>
          <a:xfrm>
            <a:off x="-288982" y="-464374"/>
            <a:ext cx="12192000" cy="7786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0" b="1" i="0" u="none" strike="noStrike" cap="none" noProof="1">
                <a:solidFill>
                  <a:srgbClr val="1C1C1C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50000" b="1" i="0" u="none" strike="noStrike" cap="none" noProof="1">
                <a:solidFill>
                  <a:srgbClr val="3A3A3A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-US" sz="50000" b="1" i="0" u="none" strike="noStrike" cap="none" noProof="1">
                <a:solidFill>
                  <a:srgbClr val="1C1C1C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lang="en-US" noProof="1"/>
          </a:p>
        </p:txBody>
      </p:sp>
      <p:sp>
        <p:nvSpPr>
          <p:cNvPr id="187" name="Google Shape;187;p22"/>
          <p:cNvSpPr txBox="1"/>
          <p:nvPr/>
        </p:nvSpPr>
        <p:spPr>
          <a:xfrm>
            <a:off x="825532" y="1783434"/>
            <a:ext cx="4074804" cy="223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Ткач Єгор</a:t>
            </a:r>
            <a:endParaRPr lang="en-US" noProof="1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 New"/>
              <a:buChar char="o"/>
            </a:pPr>
            <a:r>
              <a:rPr lang="en-US" sz="2400" b="0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Backend Developer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 New"/>
              <a:buChar char="o"/>
            </a:pPr>
            <a:r>
              <a:rPr lang="en-US" sz="2400" b="0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QA Engineer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 New"/>
              <a:buChar char="o"/>
            </a:pPr>
            <a:r>
              <a:rPr lang="en-US" sz="2400" b="0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Technical writer</a:t>
            </a:r>
          </a:p>
        </p:txBody>
      </p:sp>
      <p:sp>
        <p:nvSpPr>
          <p:cNvPr id="188" name="Google Shape;188;p22"/>
          <p:cNvSpPr txBox="1"/>
          <p:nvPr/>
        </p:nvSpPr>
        <p:spPr>
          <a:xfrm>
            <a:off x="7291665" y="1783434"/>
            <a:ext cx="4900335" cy="2787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Цимбалюк Олександр</a:t>
            </a:r>
            <a:endParaRPr lang="en-US" noProof="1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 New"/>
              <a:buChar char="o"/>
            </a:pPr>
            <a:r>
              <a:rPr lang="en-US" sz="2400" b="0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Team Lead</a:t>
            </a:r>
            <a:endParaRPr lang="en-US" noProof="1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 New"/>
              <a:buChar char="o"/>
            </a:pPr>
            <a:r>
              <a:rPr lang="en-US" sz="2400" b="0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Fullstack Developer</a:t>
            </a:r>
            <a:endParaRPr lang="en-US" noProof="1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 New"/>
              <a:buChar char="o"/>
            </a:pPr>
            <a:r>
              <a:rPr lang="en-US" sz="2400" b="0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Product Designer</a:t>
            </a:r>
            <a:endParaRPr lang="en-US" noProof="1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 New"/>
              <a:buChar char="o"/>
            </a:pPr>
            <a:r>
              <a:rPr lang="en-US" sz="2400" b="0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Scrum Master</a:t>
            </a:r>
          </a:p>
        </p:txBody>
      </p:sp>
      <p:sp>
        <p:nvSpPr>
          <p:cNvPr id="189" name="Google Shape;189;p22"/>
          <p:cNvSpPr/>
          <p:nvPr/>
        </p:nvSpPr>
        <p:spPr>
          <a:xfrm>
            <a:off x="4280598" y="1165610"/>
            <a:ext cx="2934118" cy="5064368"/>
          </a:xfrm>
          <a:prstGeom prst="parallelogram">
            <a:avLst>
              <a:gd name="adj" fmla="val 74955"/>
            </a:avLst>
          </a:prstGeom>
          <a:solidFill>
            <a:srgbClr val="3A3A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2"/>
          <p:cNvSpPr txBox="1"/>
          <p:nvPr/>
        </p:nvSpPr>
        <p:spPr>
          <a:xfrm>
            <a:off x="2550288" y="271923"/>
            <a:ext cx="709142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Grandma's Recipes</a:t>
            </a:r>
            <a:r>
              <a:rPr lang="en-US" sz="3200" b="1" i="0" u="none" strike="noStrike" cap="none" noProof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🌈</a:t>
            </a:r>
            <a:endParaRPr lang="en-US" sz="3200" b="1" i="0" u="none" strike="noStrike" cap="none" noProof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1" name="Google Shape;191;p22"/>
          <p:cNvSpPr txBox="1"/>
          <p:nvPr/>
        </p:nvSpPr>
        <p:spPr>
          <a:xfrm>
            <a:off x="288982" y="7322373"/>
            <a:ext cx="7260929" cy="2776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5400" b="1" i="0" u="none" strike="noStrike" cap="none" noProof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проблема?</a:t>
            </a:r>
            <a:endParaRPr lang="en-US" sz="7200" b="0" i="0" u="none" strike="noStrike" cap="none" noProof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2" name="Google Shape;192;p22"/>
          <p:cNvSpPr txBox="1"/>
          <p:nvPr/>
        </p:nvSpPr>
        <p:spPr>
          <a:xfrm>
            <a:off x="-8338328" y="1035345"/>
            <a:ext cx="7260929" cy="1170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У вас була</a:t>
            </a:r>
            <a:endParaRPr lang="en-US" sz="7200" b="0" i="0" u="none" strike="noStrike" cap="none" noProof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3" name="Google Shape;193;p22"/>
          <p:cNvSpPr txBox="1"/>
          <p:nvPr/>
        </p:nvSpPr>
        <p:spPr>
          <a:xfrm>
            <a:off x="13017532" y="4130544"/>
            <a:ext cx="5060411" cy="1679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Чи не знаєте, що приготувати з доступних продуктів?</a:t>
            </a:r>
            <a:endParaRPr lang="en-US" sz="2400" b="0" i="0" u="none" strike="noStrike" cap="none" noProof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4" name="Google Shape;194;p22"/>
          <p:cNvSpPr txBox="1"/>
          <p:nvPr/>
        </p:nvSpPr>
        <p:spPr>
          <a:xfrm>
            <a:off x="19234427" y="3221539"/>
            <a:ext cx="4375121" cy="1125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Не знаєте, як швидко та смачно перекусити?</a:t>
            </a:r>
            <a:endParaRPr lang="en-US" sz="2400" b="0" i="0" u="none" strike="noStrike" cap="none" noProof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5" name="Google Shape;195;p22"/>
          <p:cNvSpPr txBox="1"/>
          <p:nvPr/>
        </p:nvSpPr>
        <p:spPr>
          <a:xfrm>
            <a:off x="18101359" y="5097219"/>
            <a:ext cx="3811278" cy="1125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Чим здивувати та почастувати гостей?</a:t>
            </a:r>
            <a:endParaRPr lang="en-US" sz="2400" b="0" i="0" u="none" strike="noStrike" cap="none" noProof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6" name="Google Shape;196;p22"/>
          <p:cNvSpPr txBox="1"/>
          <p:nvPr/>
        </p:nvSpPr>
        <p:spPr>
          <a:xfrm rot="-2981138">
            <a:off x="-9088088" y="-5042839"/>
            <a:ext cx="8526684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Grandma's Recipes</a:t>
            </a:r>
            <a:r>
              <a:rPr lang="en-US" sz="4000" b="1" i="0" u="none" strike="noStrike" cap="none" noProof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🌈</a:t>
            </a:r>
            <a:endParaRPr lang="en-US" sz="4000" b="1" i="0" u="none" strike="noStrike" cap="none" noProof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7" name="Google Shape;197;p22"/>
          <p:cNvSpPr txBox="1"/>
          <p:nvPr/>
        </p:nvSpPr>
        <p:spPr>
          <a:xfrm rot="-2981138">
            <a:off x="-5382292" y="-4559051"/>
            <a:ext cx="5382292" cy="1150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noProof="1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представляє</a:t>
            </a:r>
            <a:endParaRPr lang="en-US" sz="4800" b="0" i="0" u="none" strike="noStrike" cap="none" noProof="1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/>
        </p:nvSpPr>
        <p:spPr>
          <a:xfrm>
            <a:off x="-288982" y="-464374"/>
            <a:ext cx="12192000" cy="7786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0" b="1" i="0" u="none" strike="noStrike" cap="none" noProof="1">
                <a:solidFill>
                  <a:srgbClr val="1C1C1C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50000" b="1" i="0" u="none" strike="noStrike" cap="none" noProof="1">
                <a:solidFill>
                  <a:srgbClr val="3A3A3A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-US" sz="50000" b="1" i="0" u="none" strike="noStrike" cap="none" noProof="1">
                <a:solidFill>
                  <a:srgbClr val="1C1C1C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lang="en-US" noProof="1"/>
          </a:p>
        </p:txBody>
      </p:sp>
      <p:sp>
        <p:nvSpPr>
          <p:cNvPr id="96" name="Google Shape;96;p14"/>
          <p:cNvSpPr txBox="1"/>
          <p:nvPr/>
        </p:nvSpPr>
        <p:spPr>
          <a:xfrm>
            <a:off x="2550288" y="271922"/>
            <a:ext cx="709142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Grandma's Recipes</a:t>
            </a:r>
            <a:r>
              <a:rPr lang="en-US" sz="3200" b="1" i="0" u="none" strike="noStrike" cap="none" noProof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🌈</a:t>
            </a:r>
            <a:endParaRPr lang="en-US" sz="3200" b="1" i="0" u="none" strike="noStrike" cap="none" noProof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825532" y="1783434"/>
            <a:ext cx="4074804" cy="223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Ткач Єгор</a:t>
            </a:r>
            <a:endParaRPr lang="en-US" noProof="1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 New"/>
              <a:buChar char="o"/>
            </a:pPr>
            <a:r>
              <a:rPr lang="en-US" sz="2400" b="0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Backend Developer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 New"/>
              <a:buChar char="o"/>
            </a:pPr>
            <a:r>
              <a:rPr lang="en-US" sz="2400" b="0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QA Engineer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 New"/>
              <a:buChar char="o"/>
            </a:pPr>
            <a:r>
              <a:rPr lang="en-US" sz="2400" b="0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Technical writer</a:t>
            </a:r>
          </a:p>
        </p:txBody>
      </p:sp>
      <p:sp>
        <p:nvSpPr>
          <p:cNvPr id="98" name="Google Shape;98;p14"/>
          <p:cNvSpPr txBox="1"/>
          <p:nvPr/>
        </p:nvSpPr>
        <p:spPr>
          <a:xfrm>
            <a:off x="7291665" y="1783434"/>
            <a:ext cx="4900335" cy="2787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Цимбалюк Олександр</a:t>
            </a:r>
            <a:endParaRPr lang="en-US" noProof="1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 New"/>
              <a:buChar char="o"/>
            </a:pPr>
            <a:r>
              <a:rPr lang="en-US" sz="2400" b="0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Team Lead</a:t>
            </a:r>
            <a:endParaRPr lang="en-US" noProof="1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 New"/>
              <a:buChar char="o"/>
            </a:pPr>
            <a:r>
              <a:rPr lang="en-US" sz="2400" b="0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Fullstack Developer</a:t>
            </a:r>
            <a:endParaRPr lang="en-US" noProof="1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 New"/>
              <a:buChar char="o"/>
            </a:pPr>
            <a:r>
              <a:rPr lang="en-US" sz="2400" b="0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Product Designer</a:t>
            </a:r>
            <a:endParaRPr lang="en-US" noProof="1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 New"/>
              <a:buChar char="o"/>
            </a:pPr>
            <a:r>
              <a:rPr lang="en-US" sz="2400" b="0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Scrum Master</a:t>
            </a:r>
          </a:p>
        </p:txBody>
      </p:sp>
      <p:sp>
        <p:nvSpPr>
          <p:cNvPr id="99" name="Google Shape;99;p14"/>
          <p:cNvSpPr/>
          <p:nvPr/>
        </p:nvSpPr>
        <p:spPr>
          <a:xfrm rot="3998043">
            <a:off x="-2223796" y="-4726614"/>
            <a:ext cx="16639591" cy="16440180"/>
          </a:xfrm>
          <a:prstGeom prst="parallelogram">
            <a:avLst>
              <a:gd name="adj" fmla="val 43461"/>
            </a:avLst>
          </a:prstGeom>
          <a:solidFill>
            <a:srgbClr val="C78A5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2550288" y="271923"/>
            <a:ext cx="709142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Grandma's Recipes</a:t>
            </a:r>
            <a:r>
              <a:rPr lang="en-US" sz="3200" b="1" i="0" u="none" strike="noStrike" cap="none" noProof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🌈</a:t>
            </a:r>
            <a:endParaRPr lang="en-US" sz="3200" b="1" i="0" u="none" strike="noStrike" cap="none" noProof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288982" y="1035345"/>
            <a:ext cx="7260929" cy="2776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5400" b="1" i="0" u="none" strike="noStrike" cap="none" noProof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проблема?</a:t>
            </a:r>
            <a:endParaRPr lang="en-US" sz="7200" b="0" i="0" u="none" strike="noStrike" cap="none" noProof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288981" y="1035345"/>
            <a:ext cx="7260929" cy="1170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У вас була</a:t>
            </a:r>
            <a:endParaRPr lang="en-US" sz="7200" b="0" i="0" u="none" strike="noStrike" cap="none" noProof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746607" y="4130544"/>
            <a:ext cx="5060411" cy="1679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Чи не знаєте, що приготувати з доступних продуктів?</a:t>
            </a:r>
            <a:endParaRPr lang="en-US" sz="2400" b="0" i="0" u="none" strike="noStrike" cap="none" noProof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6963502" y="3221539"/>
            <a:ext cx="4375121" cy="1125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Не знаєте, як швидко та смачно перекусити?</a:t>
            </a:r>
            <a:endParaRPr lang="en-US" sz="2400" b="0" i="0" u="none" strike="noStrike" cap="none" noProof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5830434" y="5097219"/>
            <a:ext cx="3811278" cy="1125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Чим здивувати та почастувати гостей?</a:t>
            </a:r>
            <a:endParaRPr lang="en-US" sz="2400" b="0" i="0" u="none" strike="noStrike" cap="none" noProof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12778071" y="1214495"/>
            <a:ext cx="6554873" cy="1050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- це рішення</a:t>
            </a:r>
            <a:endParaRPr lang="en-US" sz="6600" b="0" i="0" u="none" strike="noStrike" cap="none" noProof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-8817938" y="2671948"/>
            <a:ext cx="7911256" cy="1944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Завдяки простій системі фільтрації та широкому вибору рецептів ви легко підберете відповідний варіант</a:t>
            </a:r>
            <a:endParaRPr lang="en-US" noProof="1"/>
          </a:p>
        </p:txBody>
      </p:sp>
      <p:pic>
        <p:nvPicPr>
          <p:cNvPr id="108" name="Google Shape;108;p14" descr="Страница 3 | Фотографии на тему «Рецепты сочных блюд» — скачивайте  бесплатные изображения высокого качества | Freepi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41712" y="8690610"/>
            <a:ext cx="4689577" cy="3124272"/>
          </a:xfrm>
          <a:prstGeom prst="rect">
            <a:avLst/>
          </a:prstGeom>
          <a:solidFill>
            <a:srgbClr val="ECECEC"/>
          </a:solidFill>
          <a:ln w="1905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5000" dist="50800" dir="12900000" kx="195000" ky="145000" algn="tl" rotWithShape="0">
              <a:srgbClr val="000000">
                <a:alpha val="30196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78A52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Почему готовить с детьми полезно? 5 причин - Телеканал «О!»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086595" y="9281200"/>
            <a:ext cx="4191741" cy="2994101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pic>
      <p:pic>
        <p:nvPicPr>
          <p:cNvPr id="114" name="Google Shape;114;p15" descr="Любящая бабушка готовит тесто для печенья на кухне | Премиум фото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80302" y="12462037"/>
            <a:ext cx="4494742" cy="2994101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pic>
      <p:pic>
        <p:nvPicPr>
          <p:cNvPr id="115" name="Google Shape;115;p15" descr="Средний взрослый человек готовит еду на кухне | Премиум фото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48370" y="-3889942"/>
            <a:ext cx="4501538" cy="3001025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pic>
      <p:sp>
        <p:nvSpPr>
          <p:cNvPr id="116" name="Google Shape;116;p15"/>
          <p:cNvSpPr/>
          <p:nvPr/>
        </p:nvSpPr>
        <p:spPr>
          <a:xfrm rot="3998043">
            <a:off x="-2223796" y="-4726614"/>
            <a:ext cx="16639591" cy="16440180"/>
          </a:xfrm>
          <a:prstGeom prst="parallelogram">
            <a:avLst>
              <a:gd name="adj" fmla="val 43461"/>
            </a:avLst>
          </a:prstGeom>
          <a:solidFill>
            <a:srgbClr val="C78A5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5170281" y="1214495"/>
            <a:ext cx="6554873" cy="1050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- це рішення</a:t>
            </a:r>
            <a:endParaRPr lang="en-US" sz="6600" b="0" i="0" u="none" strike="noStrike" cap="none" noProof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272045" y="2671948"/>
            <a:ext cx="7911256" cy="1944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Завдяки простій системі фільтрації та широкому вибору рецептів ви легко підберете відповідний варіант</a:t>
            </a:r>
            <a:endParaRPr lang="en-US" noProof="1"/>
          </a:p>
        </p:txBody>
      </p:sp>
      <p:pic>
        <p:nvPicPr>
          <p:cNvPr id="119" name="Google Shape;119;p15" descr="Страница 3 | Фотографии на тему «Рецепты сочных блюд» — скачивайте  бесплатные изображения высокого качества | Freepik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61397" y="3899484"/>
            <a:ext cx="4689577" cy="3124272"/>
          </a:xfrm>
          <a:prstGeom prst="rect">
            <a:avLst/>
          </a:prstGeom>
          <a:solidFill>
            <a:srgbClr val="ECECEC"/>
          </a:solidFill>
          <a:ln w="1905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5000" dist="50800" dir="12900000" kx="195000" ky="145000" algn="tl" rotWithShape="0">
              <a:srgbClr val="000000">
                <a:alpha val="30196"/>
              </a:srgbClr>
            </a:outerShdw>
          </a:effectLst>
        </p:spPr>
      </p:pic>
      <p:sp>
        <p:nvSpPr>
          <p:cNvPr id="120" name="Google Shape;120;p15"/>
          <p:cNvSpPr txBox="1"/>
          <p:nvPr/>
        </p:nvSpPr>
        <p:spPr>
          <a:xfrm>
            <a:off x="1832658" y="635152"/>
            <a:ext cx="852668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Grandma's Recipes</a:t>
            </a:r>
            <a:r>
              <a:rPr lang="en-US" sz="4800" b="1" i="0" u="none" strike="noStrike" cap="none" noProof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🌈</a:t>
            </a:r>
            <a:endParaRPr lang="en-US" sz="4800" b="1" i="0" u="none" strike="noStrike" cap="none" noProof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Почему готовить с детьми полезно? 5 причин - Телеканал «О!»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2045" y="1557429"/>
            <a:ext cx="4191741" cy="2994101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pic>
      <p:pic>
        <p:nvPicPr>
          <p:cNvPr id="126" name="Google Shape;126;p16" descr="Любящая бабушка готовит тесто для печенья на кухне | Премиум фото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25213" y="1550505"/>
            <a:ext cx="4494742" cy="2994101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pic>
      <p:pic>
        <p:nvPicPr>
          <p:cNvPr id="127" name="Google Shape;127;p16" descr="Средний взрослый человек готовит еду на кухне | Премиум фото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11947" y="1550505"/>
            <a:ext cx="4501538" cy="3001025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pic>
      <p:sp>
        <p:nvSpPr>
          <p:cNvPr id="128" name="Google Shape;128;p16"/>
          <p:cNvSpPr/>
          <p:nvPr/>
        </p:nvSpPr>
        <p:spPr>
          <a:xfrm rot="5400000">
            <a:off x="1779138" y="-9483611"/>
            <a:ext cx="8602650" cy="12986504"/>
          </a:xfrm>
          <a:prstGeom prst="parallelogram">
            <a:avLst>
              <a:gd name="adj" fmla="val 0"/>
            </a:avLst>
          </a:prstGeom>
          <a:solidFill>
            <a:srgbClr val="C78A5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5170281" y="-8943916"/>
            <a:ext cx="6554873" cy="1050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- це рішення</a:t>
            </a:r>
            <a:endParaRPr lang="en-US" sz="6600" b="0" i="0" u="none" strike="noStrike" cap="none" noProof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272045" y="-7486463"/>
            <a:ext cx="7911256" cy="1944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Завдяки простій системі фільтрації та широкому вибору рецептів ви легко підберете відповідний варіант</a:t>
            </a:r>
            <a:endParaRPr lang="en-US" noProof="1"/>
          </a:p>
        </p:txBody>
      </p:sp>
      <p:pic>
        <p:nvPicPr>
          <p:cNvPr id="131" name="Google Shape;131;p16" descr="Страница 3 | Фотографии на тему «Рецепты сочных блюд» — скачивайте  бесплатные изображения высокого качества | Freepik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61397" y="-6258927"/>
            <a:ext cx="4689577" cy="3124272"/>
          </a:xfrm>
          <a:prstGeom prst="rect">
            <a:avLst/>
          </a:prstGeom>
          <a:solidFill>
            <a:srgbClr val="ECECEC"/>
          </a:solidFill>
          <a:ln w="1905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5000" dist="50800" dir="12900000" kx="195000" ky="145000" algn="tl" rotWithShape="0">
              <a:srgbClr val="000000">
                <a:alpha val="30196"/>
              </a:srgbClr>
            </a:outerShdw>
          </a:effectLst>
        </p:spPr>
      </p:pic>
      <p:sp>
        <p:nvSpPr>
          <p:cNvPr id="132" name="Google Shape;132;p16"/>
          <p:cNvSpPr txBox="1"/>
          <p:nvPr/>
        </p:nvSpPr>
        <p:spPr>
          <a:xfrm>
            <a:off x="223942" y="4731364"/>
            <a:ext cx="10240858" cy="1415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Сайтом можуть користуватися від </a:t>
            </a:r>
            <a:r>
              <a:rPr lang="en-US" sz="2000" b="1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дітей</a:t>
            </a:r>
            <a:r>
              <a:rPr lang="en-US" sz="2000" b="0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до </a:t>
            </a:r>
            <a:r>
              <a:rPr lang="en-US" sz="2000" b="1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дорослих</a:t>
            </a:r>
            <a:endParaRPr lang="en-US" noProof="1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Завдяки простій системі фільтрації та великому розмаїттю рецептів кожен зможе знайти щось за своїм смаком та рівнем навичок</a:t>
            </a:r>
            <a:endParaRPr lang="en-US" noProof="1"/>
          </a:p>
        </p:txBody>
      </p:sp>
      <p:sp>
        <p:nvSpPr>
          <p:cNvPr id="133" name="Google Shape;133;p16"/>
          <p:cNvSpPr txBox="1"/>
          <p:nvPr/>
        </p:nvSpPr>
        <p:spPr>
          <a:xfrm>
            <a:off x="1832658" y="345592"/>
            <a:ext cx="8526684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Grandma's Recipes</a:t>
            </a:r>
            <a:r>
              <a:rPr lang="en-US" sz="4000" b="1" i="0" u="none" strike="noStrike" cap="none" noProof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🌈</a:t>
            </a:r>
            <a:endParaRPr lang="en-US" sz="4000" b="1" i="0" u="none" strike="noStrike" cap="none" noProof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 descr="Почему готовить с детьми полезно? 5 причин - Телеканал «О!»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2045" y="-3759527"/>
            <a:ext cx="4191741" cy="2994101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pic>
      <p:pic>
        <p:nvPicPr>
          <p:cNvPr id="139" name="Google Shape;139;p17" descr="Любящая бабушка готовит тесто для печенья на кухне | Премиум фото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25213" y="-3766451"/>
            <a:ext cx="4494742" cy="2994101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pic>
      <p:pic>
        <p:nvPicPr>
          <p:cNvPr id="140" name="Google Shape;140;p17" descr="Средний взрослый человек готовит еду на кухне | Премиум фото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11947" y="-3766451"/>
            <a:ext cx="4501538" cy="3001025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pic>
      <p:sp>
        <p:nvSpPr>
          <p:cNvPr id="141" name="Google Shape;141;p17"/>
          <p:cNvSpPr/>
          <p:nvPr/>
        </p:nvSpPr>
        <p:spPr>
          <a:xfrm rot="5400000">
            <a:off x="5181140" y="-6081609"/>
            <a:ext cx="1798646" cy="12986504"/>
          </a:xfrm>
          <a:prstGeom prst="parallelogram">
            <a:avLst>
              <a:gd name="adj" fmla="val 0"/>
            </a:avLst>
          </a:prstGeom>
          <a:solidFill>
            <a:srgbClr val="C78A5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1832658" y="345592"/>
            <a:ext cx="8526684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Grandma's Recipes</a:t>
            </a:r>
            <a:r>
              <a:rPr lang="en-US" sz="4000" b="1" i="0" u="none" strike="noStrike" cap="none" noProof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🌈</a:t>
            </a:r>
            <a:endParaRPr lang="en-US" sz="4000" b="1" i="0" u="none" strike="noStrike" cap="none" noProof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485405" y="2144238"/>
            <a:ext cx="8973600" cy="3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Архітектур</a:t>
            </a:r>
            <a:r>
              <a:rPr lang="en-US" sz="2800" b="1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а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React Client</a:t>
            </a: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 HTTP/JSON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ASP.NET Web API</a:t>
            </a: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 EF Core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SQL Server Database</a:t>
            </a:r>
            <a:r>
              <a:rPr lang="en-US" sz="2800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</a:p>
        </p:txBody>
      </p:sp>
      <p:cxnSp>
        <p:nvCxnSpPr>
          <p:cNvPr id="144" name="Google Shape;144;p17"/>
          <p:cNvCxnSpPr/>
          <p:nvPr/>
        </p:nvCxnSpPr>
        <p:spPr>
          <a:xfrm>
            <a:off x="1167717" y="3353078"/>
            <a:ext cx="0" cy="598800"/>
          </a:xfrm>
          <a:prstGeom prst="straightConnector1">
            <a:avLst/>
          </a:prstGeom>
          <a:noFill/>
          <a:ln w="41275" cap="flat" cmpd="sng">
            <a:solidFill>
              <a:schemeClr val="lt1"/>
            </a:solidFill>
            <a:prstDash val="solid"/>
            <a:miter lim="800000"/>
            <a:headEnd type="none" w="sm" len="sm"/>
            <a:tailEnd type="oval" w="med" len="med"/>
          </a:ln>
        </p:spPr>
      </p:cxnSp>
      <p:cxnSp>
        <p:nvCxnSpPr>
          <p:cNvPr id="145" name="Google Shape;145;p17"/>
          <p:cNvCxnSpPr/>
          <p:nvPr/>
        </p:nvCxnSpPr>
        <p:spPr>
          <a:xfrm>
            <a:off x="1167717" y="4656508"/>
            <a:ext cx="0" cy="598800"/>
          </a:xfrm>
          <a:prstGeom prst="straightConnector1">
            <a:avLst/>
          </a:prstGeom>
          <a:noFill/>
          <a:ln w="41275" cap="flat" cmpd="sng">
            <a:solidFill>
              <a:schemeClr val="lt1"/>
            </a:solidFill>
            <a:prstDash val="solid"/>
            <a:miter lim="800000"/>
            <a:headEnd type="none" w="sm" len="sm"/>
            <a:tailEnd type="oval" w="med" len="med"/>
          </a:ln>
        </p:spPr>
      </p:cxnSp>
      <p:pic>
        <p:nvPicPr>
          <p:cNvPr id="146" name="Google Shape;146;p17" descr="Client server - Free computer icons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25213" y="2508487"/>
            <a:ext cx="3154680" cy="3154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"/>
          <p:cNvSpPr/>
          <p:nvPr/>
        </p:nvSpPr>
        <p:spPr>
          <a:xfrm rot="5400000">
            <a:off x="5181140" y="-6081609"/>
            <a:ext cx="1798646" cy="12986504"/>
          </a:xfrm>
          <a:prstGeom prst="parallelogram">
            <a:avLst>
              <a:gd name="adj" fmla="val 0"/>
            </a:avLst>
          </a:prstGeom>
          <a:solidFill>
            <a:srgbClr val="C78A5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1832658" y="345592"/>
            <a:ext cx="8526684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Grandma's Recipes</a:t>
            </a:r>
            <a:r>
              <a:rPr lang="en-US" sz="4000" b="1" i="0" u="none" strike="noStrike" cap="none" noProof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🌈</a:t>
            </a:r>
            <a:endParaRPr lang="en-US" sz="4000" b="1" i="0" u="none" strike="noStrike" cap="none" noProof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485405" y="2144238"/>
            <a:ext cx="9766035" cy="4616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Використані інструменти</a:t>
            </a:r>
            <a:endParaRPr lang="en-US" noProof="1"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❑"/>
            </a:pPr>
            <a:r>
              <a:rPr lang="en-US" sz="2800" b="0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Git+GitHub</a:t>
            </a:r>
            <a:endParaRPr lang="en-US" noProof="1"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❑"/>
            </a:pPr>
            <a:r>
              <a:rPr lang="en-US" sz="2800" b="0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EFCore</a:t>
            </a:r>
            <a:endParaRPr lang="en-US" noProof="1"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❑"/>
            </a:pPr>
            <a:r>
              <a:rPr lang="en-US" sz="2800" b="0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React</a:t>
            </a: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❑"/>
            </a:pPr>
            <a:r>
              <a:rPr lang="en-US" sz="2800" noProof="1">
                <a:solidFill>
                  <a:schemeClr val="lt1"/>
                </a:solidFill>
                <a:latin typeface="Verdana"/>
                <a:ea typeface="Verdana"/>
                <a:sym typeface="Verdana"/>
              </a:rPr>
              <a:t>Telegram</a:t>
            </a:r>
            <a:endParaRPr lang="en-US" noProof="1"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❑"/>
            </a:pPr>
            <a:r>
              <a:rPr lang="en-US" sz="2800" b="0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Figma</a:t>
            </a: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❑"/>
            </a:pPr>
            <a:r>
              <a:rPr lang="en-US" sz="2800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Scalar</a:t>
            </a:r>
            <a:endParaRPr lang="en-US" sz="2800" b="0" i="0" u="none" strike="noStrike" cap="none" noProof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64" name="Google Shape;164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392026">
            <a:off x="8321049" y="1756606"/>
            <a:ext cx="2215131" cy="1972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 descr="Figma Logo Icon Figma App Editable Transparent Background Premium Social  Media Design for Digital Download. 65386871 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352783">
            <a:off x="5686924" y="3429000"/>
            <a:ext cx="3883180" cy="3883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8"/>
          <p:cNvSpPr/>
          <p:nvPr/>
        </p:nvSpPr>
        <p:spPr>
          <a:xfrm rot="5400000">
            <a:off x="5181140" y="-6081609"/>
            <a:ext cx="1798646" cy="12986504"/>
          </a:xfrm>
          <a:prstGeom prst="parallelogram">
            <a:avLst>
              <a:gd name="adj" fmla="val 0"/>
            </a:avLst>
          </a:prstGeom>
          <a:solidFill>
            <a:srgbClr val="C78A5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1832658" y="345592"/>
            <a:ext cx="8526684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Grandma's Recipes</a:t>
            </a:r>
            <a:r>
              <a:rPr lang="en-US" sz="4000" b="1" i="0" u="none" strike="noStrike" cap="none" noProof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🌈</a:t>
            </a:r>
            <a:endParaRPr lang="en-US" sz="4000" b="1" i="0" u="none" strike="noStrike" cap="none" noProof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485405" y="2144238"/>
            <a:ext cx="9766035" cy="3883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Досягнуті цілі</a:t>
            </a:r>
            <a:endParaRPr lang="en-US" sz="2800" b="0" i="0" u="none" strike="noStrike" cap="none" noProof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❑"/>
            </a:pPr>
            <a:r>
              <a:rPr lang="en-US" sz="2800" b="0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Реєстрація користувачів</a:t>
            </a:r>
            <a:endParaRPr lang="en-US" noProof="1"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❑"/>
            </a:pPr>
            <a:r>
              <a:rPr lang="en-US" sz="2800" b="0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Реалізовано пагінацію списку рецептів</a:t>
            </a:r>
            <a:endParaRPr lang="en-US" noProof="1"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❑"/>
            </a:pPr>
            <a:r>
              <a:rPr lang="en-US" sz="2800" b="0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Додано просунуту систему фільтрів</a:t>
            </a:r>
            <a:endParaRPr lang="en-US" noProof="1"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❑"/>
            </a:pPr>
            <a:r>
              <a:rPr lang="en-US" sz="2800" b="0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Створено адаптивний та інтуїтивний UI</a:t>
            </a: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❑"/>
            </a:pPr>
            <a:r>
              <a:rPr lang="en-US" sz="2800" b="0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Зручний покроковий перегляд рецептів</a:t>
            </a:r>
            <a:endParaRPr lang="en-US" noProof="1"/>
          </a:p>
        </p:txBody>
      </p:sp>
      <p:pic>
        <p:nvPicPr>
          <p:cNvPr id="154" name="Google Shape;15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0291972">
            <a:off x="16011388" y="1756606"/>
            <a:ext cx="2215131" cy="1972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 descr="Figma Logo Icon Figma App Editable Transparent Background Premium Social  Media Design for Digital Download. 65386871 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282882">
            <a:off x="13494494" y="4274510"/>
            <a:ext cx="3883180" cy="3883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 descr="Достижение цели – Бесплатные иконки: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5040" y="3589017"/>
            <a:ext cx="24384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/>
          <p:nvPr/>
        </p:nvSpPr>
        <p:spPr>
          <a:xfrm rot="5400000">
            <a:off x="5181265" y="-6081630"/>
            <a:ext cx="1798500" cy="12986400"/>
          </a:xfrm>
          <a:prstGeom prst="parallelogram">
            <a:avLst>
              <a:gd name="adj" fmla="val 0"/>
            </a:avLst>
          </a:prstGeom>
          <a:solidFill>
            <a:srgbClr val="C78A5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1832658" y="345592"/>
            <a:ext cx="8526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Grandma's Recipes</a:t>
            </a:r>
            <a:r>
              <a:rPr lang="en-US" sz="4000" b="1" i="0" u="none" strike="noStrike" cap="none" noProof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🌈</a:t>
            </a:r>
            <a:endParaRPr lang="en-US" sz="4000" b="1" i="0" u="none" strike="noStrike" cap="none" noProof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72" name="Google Shape;172;p20" title="coding-web-red-bug-24718_10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9101" y="1962675"/>
            <a:ext cx="3788150" cy="378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377900" y="1534925"/>
            <a:ext cx="7557600" cy="55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Char char="❑"/>
            </a:pPr>
            <a:r>
              <a:rPr lang="en-US" sz="2400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42 коміти</a:t>
            </a: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Char char="❑"/>
            </a:pPr>
            <a:r>
              <a:rPr lang="en-US" sz="2400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35 Unit тестів</a:t>
            </a: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Char char="❑"/>
            </a:pPr>
            <a:r>
              <a:rPr lang="en-US" sz="2400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30+ REST API endpoint'ів</a:t>
            </a: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Char char="❑"/>
            </a:pPr>
            <a:r>
              <a:rPr lang="en-US" sz="2400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15 Entity моделей</a:t>
            </a: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Char char="❑"/>
            </a:pPr>
            <a:r>
              <a:rPr lang="en-US" sz="2400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30+ DTO моделей</a:t>
            </a: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Char char="❑"/>
            </a:pPr>
            <a:r>
              <a:rPr lang="en-US" sz="2400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JWT авторизація + Refresh Tokens</a:t>
            </a: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Char char="❑"/>
            </a:pPr>
            <a:r>
              <a:rPr lang="en-US" sz="2400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Pagination та система фільтрації рецептів</a:t>
            </a: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Char char="❑"/>
            </a:pPr>
            <a:r>
              <a:rPr lang="en-US" sz="2400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Repository + Service architecture</a:t>
            </a: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Char char="❑"/>
            </a:pPr>
            <a:r>
              <a:rPr lang="en-US" sz="2400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Password hashing 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noProof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/>
          <p:nvPr/>
        </p:nvSpPr>
        <p:spPr>
          <a:xfrm rot="5400000">
            <a:off x="5181140" y="-6081609"/>
            <a:ext cx="1798646" cy="12986504"/>
          </a:xfrm>
          <a:prstGeom prst="parallelogram">
            <a:avLst>
              <a:gd name="adj" fmla="val 0"/>
            </a:avLst>
          </a:prstGeom>
          <a:solidFill>
            <a:srgbClr val="C78A5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1"/>
          <p:cNvSpPr txBox="1"/>
          <p:nvPr/>
        </p:nvSpPr>
        <p:spPr>
          <a:xfrm>
            <a:off x="1832658" y="345592"/>
            <a:ext cx="8526684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Grandma's Recipes</a:t>
            </a:r>
            <a:r>
              <a:rPr lang="en-US" sz="4000" b="1" i="0" u="none" strike="noStrike" cap="none" noProof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🌈</a:t>
            </a:r>
            <a:endParaRPr lang="en-US" sz="4000" b="1" i="0" u="none" strike="noStrike" cap="none" noProof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0" name="Google Shape;180;p21"/>
          <p:cNvSpPr txBox="1"/>
          <p:nvPr/>
        </p:nvSpPr>
        <p:spPr>
          <a:xfrm>
            <a:off x="256508" y="1588712"/>
            <a:ext cx="7363500" cy="36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Чому цей проєкт важливий / потенціал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b="1" noProof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Мета:</a:t>
            </a:r>
            <a:r>
              <a:rPr lang="en-US" sz="2000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Швидкий пошук рецептів та популяризація здорового способу життя.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Монетизація:</a:t>
            </a:r>
            <a:r>
              <a:rPr lang="en-US" sz="2000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Реклама, платний доступ (SaaS).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Масштабування:</a:t>
            </a:r>
            <a:r>
              <a:rPr lang="en-US" sz="2000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Створення кулінарної платформи або власного шоу.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noProof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1" name="Google Shape;181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08675" y="2612098"/>
            <a:ext cx="3616960" cy="2813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3"/>
          <p:cNvSpPr/>
          <p:nvPr/>
        </p:nvSpPr>
        <p:spPr>
          <a:xfrm rot="5400000">
            <a:off x="2255223" y="-3155692"/>
            <a:ext cx="7650480" cy="12986504"/>
          </a:xfrm>
          <a:prstGeom prst="parallelogram">
            <a:avLst>
              <a:gd name="adj" fmla="val 0"/>
            </a:avLst>
          </a:prstGeom>
          <a:solidFill>
            <a:srgbClr val="C78A5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3"/>
          <p:cNvSpPr txBox="1"/>
          <p:nvPr/>
        </p:nvSpPr>
        <p:spPr>
          <a:xfrm>
            <a:off x="1832658" y="510782"/>
            <a:ext cx="8526684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Grandma's Recipes</a:t>
            </a:r>
            <a:r>
              <a:rPr lang="en-US" sz="4400" b="1" i="0" u="none" strike="noStrike" cap="none" noProof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🌈</a:t>
            </a:r>
            <a:endParaRPr lang="en-US" sz="4400" b="1" i="0" u="none" strike="noStrike" cap="none" noProof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4" name="Google Shape;204;p23"/>
          <p:cNvSpPr txBox="1"/>
          <p:nvPr/>
        </p:nvSpPr>
        <p:spPr>
          <a:xfrm>
            <a:off x="3389317" y="2278685"/>
            <a:ext cx="5382292" cy="1150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Дякую за увагу</a:t>
            </a:r>
            <a:endParaRPr lang="en-US" sz="4800" b="0" i="0" u="none" strike="noStrike" cap="none" noProof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3"/>
          <p:cNvSpPr txBox="1"/>
          <p:nvPr/>
        </p:nvSpPr>
        <p:spPr>
          <a:xfrm>
            <a:off x="0" y="5762127"/>
            <a:ext cx="9294471" cy="953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Цимбалюк Олександр - github.com/CutoffSquire917</a:t>
            </a:r>
            <a:br>
              <a:rPr lang="en-US" sz="2000" b="0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000" b="0" i="0" u="none" strike="noStrike" cap="none" noProof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Ткач Єгор - github.com/ZIoy1337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371</Words>
  <Application>Microsoft Office PowerPoint</Application>
  <PresentationFormat>Widescreen</PresentationFormat>
  <Paragraphs>101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Play</vt:lpstr>
      <vt:lpstr>Verdana</vt:lpstr>
      <vt:lpstr>Courier New</vt:lpstr>
      <vt:lpstr>Arial</vt:lpstr>
      <vt:lpstr>Consolas</vt:lpstr>
      <vt:lpstr>Noto Sans Symbols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Александр Цимбалюк</cp:lastModifiedBy>
  <cp:revision>1</cp:revision>
  <dcterms:modified xsi:type="dcterms:W3CDTF">2026-05-12T21:50:37Z</dcterms:modified>
</cp:coreProperties>
</file>